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61" r:id="rId2"/>
    <p:sldId id="257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9" r:id="rId11"/>
    <p:sldId id="280" r:id="rId12"/>
    <p:sldId id="281" r:id="rId13"/>
    <p:sldId id="282" r:id="rId14"/>
    <p:sldId id="28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06" autoAdjust="0"/>
  </p:normalViewPr>
  <p:slideViewPr>
    <p:cSldViewPr snapToGrid="0">
      <p:cViewPr varScale="1">
        <p:scale>
          <a:sx n="70" d="100"/>
          <a:sy n="70" d="100"/>
        </p:scale>
        <p:origin x="536" y="8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3/17/2020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3/17/2020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03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3/17/2020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3/17/2020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3/17/2020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3/17/2020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3/17/2020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3/17/2020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3/17/2020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3/17/2020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3/17/2020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SQL &amp; </a:t>
            </a:r>
            <a:r>
              <a:rPr lang="en-US" dirty="0" err="1" smtClean="0"/>
              <a:t>BigQuery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Tutorial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use </a:t>
            </a:r>
            <a:r>
              <a:rPr lang="en-US" dirty="0" err="1" smtClean="0"/>
              <a:t>BigQuery</a:t>
            </a:r>
            <a:r>
              <a:rPr lang="en-US" dirty="0" smtClean="0"/>
              <a:t> we import the Python package:</a:t>
            </a:r>
          </a:p>
          <a:p>
            <a:pPr lvl="1"/>
            <a:r>
              <a:rPr lang="en-US" dirty="0" smtClean="0"/>
              <a:t>from </a:t>
            </a:r>
            <a:r>
              <a:rPr lang="en-US" dirty="0" err="1" smtClean="0"/>
              <a:t>google.cloud</a:t>
            </a:r>
            <a:r>
              <a:rPr lang="en-US" dirty="0" smtClean="0"/>
              <a:t> import </a:t>
            </a:r>
            <a:r>
              <a:rPr lang="en-US" dirty="0" err="1" smtClean="0"/>
              <a:t>bigquery</a:t>
            </a:r>
            <a:endParaRPr lang="en-US" dirty="0"/>
          </a:p>
          <a:p>
            <a:r>
              <a:rPr lang="en-US" dirty="0" smtClean="0"/>
              <a:t>First step is to create a Client object</a:t>
            </a:r>
          </a:p>
          <a:p>
            <a:pPr lvl="1"/>
            <a:r>
              <a:rPr lang="en-US" dirty="0" smtClean="0"/>
              <a:t>client = </a:t>
            </a:r>
            <a:r>
              <a:rPr lang="en-US" dirty="0" err="1" smtClean="0"/>
              <a:t>bigquery.Client</a:t>
            </a:r>
            <a:r>
              <a:rPr lang="en-US" dirty="0" smtClean="0"/>
              <a:t>()</a:t>
            </a:r>
            <a:endParaRPr lang="en-US" dirty="0"/>
          </a:p>
          <a:p>
            <a:r>
              <a:rPr lang="en-US" dirty="0" smtClean="0"/>
              <a:t>In </a:t>
            </a:r>
            <a:r>
              <a:rPr lang="en-US" dirty="0" err="1" smtClean="0"/>
              <a:t>BigQuery</a:t>
            </a:r>
            <a:r>
              <a:rPr lang="en-US" dirty="0" smtClean="0"/>
              <a:t>, each dataset is contained in a corresponding project</a:t>
            </a:r>
          </a:p>
          <a:p>
            <a:pPr lvl="1"/>
            <a:r>
              <a:rPr lang="en-US" dirty="0" smtClean="0"/>
              <a:t>Create a reference to the dataset</a:t>
            </a:r>
          </a:p>
          <a:p>
            <a:pPr lvl="2"/>
            <a:r>
              <a:rPr lang="en-US" dirty="0" err="1" smtClean="0"/>
              <a:t>dataset_reference</a:t>
            </a:r>
            <a:r>
              <a:rPr lang="en-US" dirty="0" smtClean="0"/>
              <a:t> = </a:t>
            </a:r>
            <a:r>
              <a:rPr lang="en-US" dirty="0" err="1" smtClean="0"/>
              <a:t>client.dataset</a:t>
            </a:r>
            <a:r>
              <a:rPr lang="en-US" dirty="0" smtClean="0"/>
              <a:t>(“</a:t>
            </a:r>
            <a:r>
              <a:rPr lang="en-US" dirty="0" err="1" smtClean="0"/>
              <a:t>name_of_the_data_set</a:t>
            </a:r>
            <a:r>
              <a:rPr lang="en-US" dirty="0" smtClean="0"/>
              <a:t>”, project  = “</a:t>
            </a:r>
            <a:r>
              <a:rPr lang="en-US" dirty="0" err="1" smtClean="0"/>
              <a:t>name_of_the_project</a:t>
            </a:r>
            <a:r>
              <a:rPr lang="en-US" dirty="0" smtClean="0"/>
              <a:t>”)</a:t>
            </a:r>
          </a:p>
          <a:p>
            <a:pPr lvl="1"/>
            <a:r>
              <a:rPr lang="en-US" dirty="0" smtClean="0"/>
              <a:t>Now fetch the dataset</a:t>
            </a:r>
          </a:p>
          <a:p>
            <a:pPr lvl="2"/>
            <a:r>
              <a:rPr lang="en-US" dirty="0" smtClean="0"/>
              <a:t>dataset = </a:t>
            </a:r>
            <a:r>
              <a:rPr lang="en-US" dirty="0" err="1" smtClean="0"/>
              <a:t>client.get_dataset</a:t>
            </a:r>
            <a:r>
              <a:rPr lang="en-US" dirty="0" smtClean="0"/>
              <a:t>(</a:t>
            </a:r>
            <a:r>
              <a:rPr lang="en-US" dirty="0" err="1" smtClean="0"/>
              <a:t>dataset_reference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61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Every dataset is just a collection of tables</a:t>
            </a:r>
          </a:p>
          <a:p>
            <a:r>
              <a:rPr lang="en-US" dirty="0" smtClean="0"/>
              <a:t>To list all tables we use </a:t>
            </a:r>
            <a:r>
              <a:rPr lang="en-US" dirty="0" err="1" smtClean="0"/>
              <a:t>list_tables</a:t>
            </a:r>
            <a:r>
              <a:rPr lang="en-US" dirty="0" smtClean="0"/>
              <a:t> method</a:t>
            </a:r>
          </a:p>
          <a:p>
            <a:pPr lvl="1"/>
            <a:r>
              <a:rPr lang="en-US" dirty="0" smtClean="0"/>
              <a:t>tables = list(</a:t>
            </a:r>
            <a:r>
              <a:rPr lang="en-US" dirty="0" err="1" smtClean="0"/>
              <a:t>client.list_tables</a:t>
            </a:r>
            <a:r>
              <a:rPr lang="en-US" dirty="0" smtClean="0"/>
              <a:t>(dataset))</a:t>
            </a:r>
          </a:p>
          <a:p>
            <a:r>
              <a:rPr lang="en-US" dirty="0" smtClean="0"/>
              <a:t>Similar to fetch the dataset, we can fetch a table</a:t>
            </a:r>
          </a:p>
          <a:p>
            <a:pPr lvl="1"/>
            <a:r>
              <a:rPr lang="en-US" dirty="0" err="1" smtClean="0"/>
              <a:t>table_reference</a:t>
            </a:r>
            <a:r>
              <a:rPr lang="en-US" dirty="0" smtClean="0"/>
              <a:t> = </a:t>
            </a:r>
            <a:r>
              <a:rPr lang="en-US" dirty="0" err="1" smtClean="0"/>
              <a:t>dataset_reference.table</a:t>
            </a:r>
            <a:r>
              <a:rPr lang="en-US" dirty="0" smtClean="0"/>
              <a:t>(“</a:t>
            </a:r>
            <a:r>
              <a:rPr lang="en-US" dirty="0" err="1" smtClean="0"/>
              <a:t>name_of_the_table</a:t>
            </a:r>
            <a:r>
              <a:rPr lang="en-US" dirty="0" smtClean="0"/>
              <a:t>”)</a:t>
            </a:r>
          </a:p>
          <a:p>
            <a:pPr lvl="1"/>
            <a:r>
              <a:rPr lang="en-US" dirty="0" err="1" smtClean="0"/>
              <a:t>mytable</a:t>
            </a:r>
            <a:r>
              <a:rPr lang="en-US" dirty="0" smtClean="0"/>
              <a:t> = </a:t>
            </a:r>
            <a:r>
              <a:rPr lang="en-US" dirty="0" err="1" smtClean="0"/>
              <a:t>client.get_table</a:t>
            </a:r>
            <a:r>
              <a:rPr lang="en-US" dirty="0" smtClean="0"/>
              <a:t>(</a:t>
            </a:r>
            <a:r>
              <a:rPr lang="en-US" dirty="0" err="1" smtClean="0"/>
              <a:t>table_reference</a:t>
            </a:r>
            <a:r>
              <a:rPr lang="en-US" dirty="0" smtClean="0"/>
              <a:t>)</a:t>
            </a:r>
          </a:p>
          <a:p>
            <a:pPr marL="274320" lvl="1" indent="0"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846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structure of a table is called schema</a:t>
            </a:r>
          </a:p>
          <a:p>
            <a:pPr lvl="1"/>
            <a:r>
              <a:rPr lang="en-US" dirty="0" err="1" smtClean="0"/>
              <a:t>mytable.schema</a:t>
            </a:r>
            <a:endParaRPr lang="en-US" dirty="0" smtClean="0"/>
          </a:p>
          <a:p>
            <a:pPr lvl="2"/>
            <a:r>
              <a:rPr lang="en-US" dirty="0"/>
              <a:t>Each </a:t>
            </a:r>
            <a:r>
              <a:rPr lang="en-US" dirty="0" err="1"/>
              <a:t>Each</a:t>
            </a:r>
            <a:r>
              <a:rPr lang="en-US" dirty="0"/>
              <a:t> </a:t>
            </a:r>
            <a:r>
              <a:rPr lang="en-US" dirty="0" err="1" smtClean="0"/>
              <a:t>SchemaField</a:t>
            </a:r>
            <a:r>
              <a:rPr lang="en-US" dirty="0" smtClean="0"/>
              <a:t> (output from </a:t>
            </a:r>
            <a:r>
              <a:rPr lang="en-US" dirty="0" err="1" smtClean="0"/>
              <a:t>mytable.schema</a:t>
            </a:r>
            <a:r>
              <a:rPr lang="en-US" dirty="0" smtClean="0"/>
              <a:t>) shows information for each column</a:t>
            </a:r>
          </a:p>
          <a:p>
            <a:pPr lvl="2"/>
            <a:r>
              <a:rPr lang="en-US" dirty="0" smtClean="0"/>
              <a:t>It contains the following information</a:t>
            </a:r>
          </a:p>
          <a:p>
            <a:pPr lvl="3"/>
            <a:r>
              <a:rPr lang="en-US" dirty="0" smtClean="0"/>
              <a:t>Name: column name</a:t>
            </a:r>
          </a:p>
          <a:p>
            <a:pPr lvl="3"/>
            <a:r>
              <a:rPr lang="en-US" dirty="0" smtClean="0"/>
              <a:t>Field type: column datatype</a:t>
            </a:r>
          </a:p>
          <a:p>
            <a:pPr lvl="3"/>
            <a:r>
              <a:rPr lang="en-US" dirty="0" smtClean="0"/>
              <a:t>Mode: NULLABLE means that the column allows NULL values</a:t>
            </a:r>
          </a:p>
          <a:p>
            <a:pPr lvl="3"/>
            <a:r>
              <a:rPr lang="en-US" dirty="0" smtClean="0"/>
              <a:t>Description: description of the data in the column</a:t>
            </a:r>
          </a:p>
          <a:p>
            <a:pPr lvl="1"/>
            <a:r>
              <a:rPr lang="en-US" dirty="0" smtClean="0"/>
              <a:t>Using </a:t>
            </a:r>
            <a:r>
              <a:rPr lang="en-US" dirty="0" err="1" smtClean="0"/>
              <a:t>list_rows</a:t>
            </a:r>
            <a:r>
              <a:rPr lang="en-US" dirty="0" smtClean="0"/>
              <a:t> method allows us to inspect the first line of the table:</a:t>
            </a:r>
          </a:p>
          <a:p>
            <a:pPr lvl="2"/>
            <a:r>
              <a:rPr lang="en-US" dirty="0" err="1" smtClean="0"/>
              <a:t>client.list_rows</a:t>
            </a:r>
            <a:r>
              <a:rPr lang="en-US" dirty="0" smtClean="0"/>
              <a:t>(</a:t>
            </a:r>
            <a:r>
              <a:rPr lang="en-US" dirty="0" err="1" smtClean="0"/>
              <a:t>mytable</a:t>
            </a:r>
            <a:r>
              <a:rPr lang="en-US" dirty="0" smtClean="0"/>
              <a:t>, </a:t>
            </a:r>
            <a:r>
              <a:rPr lang="en-US" dirty="0" err="1" smtClean="0"/>
              <a:t>max_results</a:t>
            </a:r>
            <a:r>
              <a:rPr lang="en-US" dirty="0" smtClean="0"/>
              <a:t> = 5).</a:t>
            </a:r>
            <a:r>
              <a:rPr lang="en-US" dirty="0" err="1" smtClean="0"/>
              <a:t>to_dataframe</a:t>
            </a:r>
            <a:r>
              <a:rPr lang="en-US" dirty="0" smtClean="0"/>
              <a:t>()</a:t>
            </a:r>
          </a:p>
          <a:p>
            <a:pPr lvl="2"/>
            <a:r>
              <a:rPr lang="en-US" dirty="0" smtClean="0"/>
              <a:t>This returns a </a:t>
            </a:r>
            <a:r>
              <a:rPr lang="en-US" dirty="0" err="1" smtClean="0"/>
              <a:t>BigQuery</a:t>
            </a:r>
            <a:r>
              <a:rPr lang="en-US" dirty="0" smtClean="0"/>
              <a:t> </a:t>
            </a:r>
            <a:r>
              <a:rPr lang="en-US" dirty="0" err="1" smtClean="0"/>
              <a:t>RowIterator</a:t>
            </a:r>
            <a:r>
              <a:rPr lang="en-US" dirty="0" smtClean="0"/>
              <a:t> so we convert it to a Pandas </a:t>
            </a:r>
            <a:r>
              <a:rPr lang="en-US" dirty="0" err="1" smtClean="0"/>
              <a:t>DataFrame</a:t>
            </a:r>
            <a:r>
              <a:rPr lang="en-US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389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can use </a:t>
            </a:r>
            <a:r>
              <a:rPr lang="en-US" dirty="0" err="1" smtClean="0"/>
              <a:t>list_rows</a:t>
            </a:r>
            <a:r>
              <a:rPr lang="en-US" dirty="0" smtClean="0"/>
              <a:t> to inspect specific columns of the table</a:t>
            </a:r>
          </a:p>
          <a:p>
            <a:pPr lvl="1"/>
            <a:r>
              <a:rPr lang="en-US" dirty="0" err="1" smtClean="0"/>
              <a:t>client.list_rows</a:t>
            </a:r>
            <a:r>
              <a:rPr lang="en-US" dirty="0" smtClean="0"/>
              <a:t>(</a:t>
            </a:r>
            <a:r>
              <a:rPr lang="en-US" dirty="0" err="1" smtClean="0"/>
              <a:t>mytable</a:t>
            </a:r>
            <a:r>
              <a:rPr lang="en-US" dirty="0" smtClean="0"/>
              <a:t>, </a:t>
            </a:r>
            <a:r>
              <a:rPr lang="en-US" dirty="0" err="1" smtClean="0"/>
              <a:t>selected_fields</a:t>
            </a:r>
            <a:r>
              <a:rPr lang="en-US" dirty="0"/>
              <a:t> </a:t>
            </a:r>
            <a:r>
              <a:rPr lang="en-US" dirty="0" smtClean="0"/>
              <a:t>= </a:t>
            </a:r>
            <a:r>
              <a:rPr lang="en-US" dirty="0" err="1" smtClean="0"/>
              <a:t>table.schema</a:t>
            </a:r>
            <a:r>
              <a:rPr lang="en-US" dirty="0" smtClean="0"/>
              <a:t>[:1], </a:t>
            </a:r>
            <a:r>
              <a:rPr lang="en-US" dirty="0" err="1" smtClean="0"/>
              <a:t>max_results</a:t>
            </a:r>
            <a:r>
              <a:rPr lang="en-US" dirty="0" smtClean="0"/>
              <a:t> = 5).</a:t>
            </a:r>
            <a:r>
              <a:rPr lang="en-US" dirty="0" err="1" smtClean="0"/>
              <a:t>to_dataframe</a:t>
            </a:r>
            <a:r>
              <a:rPr lang="en-US" dirty="0" smtClean="0"/>
              <a:t>()</a:t>
            </a:r>
          </a:p>
          <a:p>
            <a:pPr lvl="1"/>
            <a:r>
              <a:rPr lang="en-US" dirty="0" smtClean="0"/>
              <a:t>Preview of the first column of </a:t>
            </a:r>
            <a:r>
              <a:rPr lang="en-US" dirty="0" err="1" smtClean="0"/>
              <a:t>mytable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57549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SELECT, FROM &amp; WHERE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SELECT: specify the column(s) to select</a:t>
            </a:r>
          </a:p>
          <a:p>
            <a:r>
              <a:rPr lang="en-US" dirty="0" smtClean="0"/>
              <a:t>FROM: specify the table where to select the column(s)</a:t>
            </a:r>
          </a:p>
          <a:p>
            <a:r>
              <a:rPr lang="en-US" dirty="0"/>
              <a:t>WHERE: return only rows that meet certain </a:t>
            </a:r>
            <a:r>
              <a:rPr lang="en-US" dirty="0" smtClean="0"/>
              <a:t>criteria</a:t>
            </a:r>
          </a:p>
          <a:p>
            <a:pPr marL="0" indent="0">
              <a:buNone/>
            </a:pPr>
            <a:r>
              <a:rPr lang="en-US" i="1" dirty="0" smtClean="0">
                <a:solidFill>
                  <a:schemeClr val="accent1"/>
                </a:solidFill>
              </a:rPr>
              <a:t>SELECT my_column1, my_column2</a:t>
            </a:r>
          </a:p>
          <a:p>
            <a:pPr marL="0" indent="0">
              <a:buNone/>
            </a:pPr>
            <a:r>
              <a:rPr lang="en-US" i="1" dirty="0" smtClean="0">
                <a:solidFill>
                  <a:schemeClr val="accent1"/>
                </a:solidFill>
              </a:rPr>
              <a:t>FROM </a:t>
            </a:r>
            <a:r>
              <a:rPr lang="en-US" i="1" dirty="0" err="1" smtClean="0">
                <a:solidFill>
                  <a:schemeClr val="accent1"/>
                </a:solidFill>
              </a:rPr>
              <a:t>my_table</a:t>
            </a:r>
            <a:endParaRPr lang="en-US" i="1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i="1" dirty="0" smtClean="0">
                <a:solidFill>
                  <a:schemeClr val="accent1"/>
                </a:solidFill>
              </a:rPr>
              <a:t>WHERE </a:t>
            </a:r>
            <a:r>
              <a:rPr lang="en-US" i="1" dirty="0" err="1" smtClean="0">
                <a:solidFill>
                  <a:schemeClr val="accent1"/>
                </a:solidFill>
              </a:rPr>
              <a:t>my_column</a:t>
            </a:r>
            <a:r>
              <a:rPr lang="en-US" i="1" dirty="0" smtClean="0">
                <a:solidFill>
                  <a:schemeClr val="accent1"/>
                </a:solidFill>
              </a:rPr>
              <a:t> = ‘US’</a:t>
            </a:r>
          </a:p>
          <a:p>
            <a:r>
              <a:rPr lang="en-US" dirty="0" smtClean="0"/>
              <a:t>To select all columns use SELECT *</a:t>
            </a:r>
          </a:p>
          <a:p>
            <a:r>
              <a:rPr lang="en-US" dirty="0" smtClean="0"/>
              <a:t>In </a:t>
            </a:r>
            <a:r>
              <a:rPr lang="en-US" dirty="0" err="1" smtClean="0"/>
              <a:t>BigQuery</a:t>
            </a:r>
            <a:r>
              <a:rPr lang="en-US" dirty="0" smtClean="0"/>
              <a:t>, the argument pass to FROM has to be between </a:t>
            </a:r>
            <a:r>
              <a:rPr lang="en-US" dirty="0" err="1" smtClean="0"/>
              <a:t>backticks</a:t>
            </a:r>
            <a:r>
              <a:rPr lang="en-US" dirty="0" smtClean="0"/>
              <a:t>  ( ` 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397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BigQuery</a:t>
            </a:r>
            <a:r>
              <a:rPr lang="en-US" dirty="0" smtClean="0"/>
              <a:t> 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Write a query between triple double quote:</a:t>
            </a:r>
          </a:p>
          <a:p>
            <a:pPr marL="0" indent="0">
              <a:buNone/>
            </a:pPr>
            <a:r>
              <a:rPr lang="en-US" dirty="0"/>
              <a:t>q</a:t>
            </a:r>
            <a:r>
              <a:rPr lang="en-US" dirty="0" smtClean="0"/>
              <a:t>uery </a:t>
            </a:r>
            <a:r>
              <a:rPr lang="en-US" dirty="0"/>
              <a:t>= </a:t>
            </a:r>
            <a:r>
              <a:rPr lang="en-US" dirty="0" smtClean="0"/>
              <a:t>"""</a:t>
            </a:r>
          </a:p>
          <a:p>
            <a:pPr marL="0" indent="0">
              <a:buNone/>
            </a:pPr>
            <a:r>
              <a:rPr lang="en-US" dirty="0" smtClean="0"/>
              <a:t>	SELECT city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FROM `</a:t>
            </a:r>
            <a:r>
              <a:rPr lang="en-US" dirty="0" err="1" smtClean="0"/>
              <a:t>my_project_name.dataset_name.table_name</a:t>
            </a:r>
            <a:r>
              <a:rPr lang="en-US" dirty="0" smtClean="0"/>
              <a:t>`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WHERE country = ‘US’ </a:t>
            </a:r>
          </a:p>
          <a:p>
            <a:pPr marL="0" indent="0">
              <a:buNone/>
            </a:pPr>
            <a:r>
              <a:rPr lang="en-US" dirty="0" smtClean="0"/>
              <a:t>	"""</a:t>
            </a:r>
            <a:endParaRPr lang="en-US" dirty="0"/>
          </a:p>
          <a:p>
            <a:r>
              <a:rPr lang="en-US" dirty="0" smtClean="0"/>
              <a:t>Set up a query and run it</a:t>
            </a:r>
          </a:p>
          <a:p>
            <a:pPr lvl="1"/>
            <a:r>
              <a:rPr lang="en-US" dirty="0" err="1" smtClean="0"/>
              <a:t>query_job</a:t>
            </a:r>
            <a:r>
              <a:rPr lang="en-US" dirty="0" smtClean="0"/>
              <a:t> = </a:t>
            </a:r>
            <a:r>
              <a:rPr lang="en-US" dirty="0" err="1" smtClean="0"/>
              <a:t>client.query</a:t>
            </a:r>
            <a:r>
              <a:rPr lang="en-US" dirty="0" smtClean="0"/>
              <a:t>(query)</a:t>
            </a:r>
          </a:p>
          <a:p>
            <a:pPr lvl="1"/>
            <a:r>
              <a:rPr lang="en-US" dirty="0" err="1" smtClean="0"/>
              <a:t>us_cities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query_job.to_dataframe</a:t>
            </a:r>
            <a:r>
              <a:rPr lang="en-US" dirty="0" smtClean="0"/>
              <a:t>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94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BigQuery</a:t>
            </a:r>
            <a:r>
              <a:rPr lang="en-US" dirty="0" smtClean="0"/>
              <a:t>: Big dataset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Estimate the size of any query before running</a:t>
            </a:r>
          </a:p>
          <a:p>
            <a:pPr lvl="1"/>
            <a:r>
              <a:rPr lang="en-US" dirty="0" smtClean="0"/>
              <a:t>First create a </a:t>
            </a:r>
            <a:r>
              <a:rPr lang="en-US" dirty="0" err="1" smtClean="0"/>
              <a:t>QueryJobConfig</a:t>
            </a:r>
            <a:r>
              <a:rPr lang="en-US" dirty="0" smtClean="0"/>
              <a:t> to estimate the size of the query without running it</a:t>
            </a:r>
          </a:p>
          <a:p>
            <a:pPr lvl="2"/>
            <a:r>
              <a:rPr lang="en-US" dirty="0" err="1" smtClean="0"/>
              <a:t>dry_run_config</a:t>
            </a:r>
            <a:r>
              <a:rPr lang="en-US" dirty="0" smtClean="0"/>
              <a:t> = </a:t>
            </a:r>
            <a:r>
              <a:rPr lang="en-US" dirty="0" err="1" smtClean="0"/>
              <a:t>bigquery.QueryJobConfig</a:t>
            </a:r>
            <a:r>
              <a:rPr lang="en-US" dirty="0" smtClean="0"/>
              <a:t>(</a:t>
            </a:r>
            <a:r>
              <a:rPr lang="en-US" dirty="0" err="1" smtClean="0"/>
              <a:t>dry_run</a:t>
            </a:r>
            <a:r>
              <a:rPr lang="en-US" dirty="0" smtClean="0"/>
              <a:t> = True)</a:t>
            </a:r>
          </a:p>
          <a:p>
            <a:pPr lvl="1"/>
            <a:r>
              <a:rPr lang="en-US" dirty="0" smtClean="0"/>
              <a:t>Estimate cost</a:t>
            </a:r>
          </a:p>
          <a:p>
            <a:pPr lvl="2"/>
            <a:r>
              <a:rPr lang="en-US" dirty="0" err="1" smtClean="0"/>
              <a:t>dry_run_query_job</a:t>
            </a:r>
            <a:r>
              <a:rPr lang="en-US" dirty="0" smtClean="0"/>
              <a:t> = </a:t>
            </a:r>
            <a:r>
              <a:rPr lang="en-US" dirty="0" err="1" smtClean="0"/>
              <a:t>client.query</a:t>
            </a:r>
            <a:r>
              <a:rPr lang="en-US" dirty="0" smtClean="0"/>
              <a:t>(query, </a:t>
            </a:r>
            <a:r>
              <a:rPr lang="en-US" dirty="0" err="1" smtClean="0"/>
              <a:t>job_config</a:t>
            </a:r>
            <a:r>
              <a:rPr lang="en-US" dirty="0" smtClean="0"/>
              <a:t> = </a:t>
            </a:r>
            <a:r>
              <a:rPr lang="en-US" dirty="0" err="1" smtClean="0"/>
              <a:t>dry_run_config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query argument inside the </a:t>
            </a:r>
            <a:r>
              <a:rPr lang="en-US" dirty="0" err="1" smtClean="0"/>
              <a:t>client.query</a:t>
            </a:r>
            <a:r>
              <a:rPr lang="en-US" dirty="0" smtClean="0"/>
              <a:t> is the query to run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 </a:t>
            </a:r>
            <a:r>
              <a:rPr lang="en-US" dirty="0"/>
              <a:t>query = </a:t>
            </a:r>
            <a:r>
              <a:rPr lang="en-US" dirty="0" smtClean="0"/>
              <a:t>""</a:t>
            </a:r>
            <a:r>
              <a:rPr lang="en-US" dirty="0"/>
              <a:t>"</a:t>
            </a:r>
            <a:r>
              <a:rPr lang="en-US" dirty="0" smtClean="0"/>
              <a:t> SELECT….</a:t>
            </a:r>
          </a:p>
          <a:p>
            <a:pPr lvl="1"/>
            <a:r>
              <a:rPr lang="en-US" dirty="0" smtClean="0"/>
              <a:t>Get the bytes</a:t>
            </a:r>
          </a:p>
          <a:p>
            <a:pPr lvl="2"/>
            <a:r>
              <a:rPr lang="en-US" dirty="0" err="1" smtClean="0"/>
              <a:t>dry_run_query_job.total_bytes_processed</a:t>
            </a:r>
            <a:endParaRPr lang="en-US" dirty="0"/>
          </a:p>
          <a:p>
            <a:r>
              <a:rPr lang="en-US" dirty="0" smtClean="0"/>
              <a:t>Run a query if it is less than x MB for example</a:t>
            </a:r>
          </a:p>
          <a:p>
            <a:pPr lvl="1"/>
            <a:r>
              <a:rPr lang="en-US" dirty="0"/>
              <a:t> </a:t>
            </a:r>
            <a:r>
              <a:rPr lang="en-US" dirty="0" err="1" smtClean="0"/>
              <a:t>bigquery.QueryJobConfig</a:t>
            </a:r>
            <a:r>
              <a:rPr lang="en-US" dirty="0" smtClean="0"/>
              <a:t>(</a:t>
            </a:r>
            <a:r>
              <a:rPr lang="en-US" dirty="0" err="1" smtClean="0"/>
              <a:t>maximum_bytes_billed</a:t>
            </a:r>
            <a:r>
              <a:rPr lang="en-US" dirty="0"/>
              <a:t> </a:t>
            </a:r>
            <a:r>
              <a:rPr lang="en-US" dirty="0" smtClean="0"/>
              <a:t>=  x)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095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GROUPBY, COUNT &amp; HAVING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COUNT: return the count of things. Passing a column name it will return the number of entries in that column</a:t>
            </a:r>
          </a:p>
          <a:p>
            <a:pPr marL="0" indent="0">
              <a:buNone/>
            </a:pPr>
            <a:r>
              <a:rPr lang="en-US" dirty="0" smtClean="0"/>
              <a:t>	"""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SELECT </a:t>
            </a:r>
            <a:r>
              <a:rPr lang="en-US" dirty="0" smtClean="0"/>
              <a:t>COUNT(city)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FROM `</a:t>
            </a:r>
            <a:r>
              <a:rPr lang="en-US" dirty="0" err="1"/>
              <a:t>my_project_name.dataset_name.table_name</a:t>
            </a:r>
            <a:r>
              <a:rPr lang="en-US" dirty="0"/>
              <a:t>`</a:t>
            </a:r>
          </a:p>
          <a:p>
            <a:pPr marL="0" indent="0">
              <a:buNone/>
            </a:pPr>
            <a:r>
              <a:rPr lang="en-US" dirty="0"/>
              <a:t>	WHERE country = ‘US’ </a:t>
            </a:r>
          </a:p>
          <a:p>
            <a:pPr marL="0" indent="0">
              <a:buNone/>
            </a:pPr>
            <a:r>
              <a:rPr lang="en-US" dirty="0"/>
              <a:t>	"""</a:t>
            </a:r>
          </a:p>
          <a:p>
            <a:r>
              <a:rPr lang="en-US" dirty="0" smtClean="0"/>
              <a:t>This is an aggregate function. Other aggregate functions are SUM(), AVG(), MIN() and MAX()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90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GROUPBY, COUNT &amp; HAVING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GROUPBY: take the name of one or more columns and treats all rows with the same value in that column as a single group when you apply aggregate functions like COUNT()</a:t>
            </a:r>
          </a:p>
          <a:p>
            <a:pPr marL="0" indent="0">
              <a:buNone/>
            </a:pPr>
            <a:r>
              <a:rPr lang="en-US" dirty="0" smtClean="0"/>
              <a:t>	"""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SELECT </a:t>
            </a:r>
            <a:r>
              <a:rPr lang="en-US" dirty="0" smtClean="0"/>
              <a:t>COUNT(city)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FROM `</a:t>
            </a:r>
            <a:r>
              <a:rPr lang="en-US" dirty="0" err="1"/>
              <a:t>my_project_name.dataset_name.table_name</a:t>
            </a:r>
            <a:r>
              <a:rPr lang="en-US" dirty="0"/>
              <a:t>`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GROUPBY country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""“</a:t>
            </a:r>
          </a:p>
          <a:p>
            <a:r>
              <a:rPr lang="en-US" dirty="0" smtClean="0"/>
              <a:t>Return the city count per country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847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GROUPBY, COUNT &amp; HAVING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GROUPBY … HAVING: HAVING is used in combination with GROUPBY to ignore groups that do not meet certain criteria</a:t>
            </a:r>
          </a:p>
          <a:p>
            <a:pPr marL="0" indent="0">
              <a:buNone/>
            </a:pPr>
            <a:r>
              <a:rPr lang="en-US" dirty="0" smtClean="0"/>
              <a:t>	"""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SELECT </a:t>
            </a:r>
            <a:r>
              <a:rPr lang="en-US" dirty="0" smtClean="0"/>
              <a:t>COUNT(city)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FROM `</a:t>
            </a:r>
            <a:r>
              <a:rPr lang="en-US" dirty="0" err="1"/>
              <a:t>my_project_name.dataset_name.table_name</a:t>
            </a:r>
            <a:r>
              <a:rPr lang="en-US" dirty="0"/>
              <a:t>`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GROUPBY country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HAVING COUNT(city) &gt; 5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""</a:t>
            </a:r>
            <a:r>
              <a:rPr lang="en-US" dirty="0"/>
              <a:t>"</a:t>
            </a:r>
            <a:endParaRPr lang="en-US" dirty="0" smtClean="0"/>
          </a:p>
          <a:p>
            <a:r>
              <a:rPr lang="en-US" dirty="0" smtClean="0"/>
              <a:t>Return the city count greater than 5 per country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726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GROUPBY, COUNT &amp; HAVING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To rename the column name resulting from COUNT(city) you use </a:t>
            </a:r>
            <a:r>
              <a:rPr lang="en-US" dirty="0" smtClean="0">
                <a:solidFill>
                  <a:schemeClr val="accent1"/>
                </a:solidFill>
              </a:rPr>
              <a:t>aliasing</a:t>
            </a:r>
          </a:p>
          <a:p>
            <a:r>
              <a:rPr lang="en-US" dirty="0" smtClean="0"/>
              <a:t>Use </a:t>
            </a:r>
            <a:r>
              <a:rPr lang="en-US" dirty="0" smtClean="0">
                <a:solidFill>
                  <a:schemeClr val="accent1"/>
                </a:solidFill>
              </a:rPr>
              <a:t>AS</a:t>
            </a:r>
            <a:r>
              <a:rPr lang="en-US" dirty="0" smtClean="0"/>
              <a:t> follow by the name you want to give to the resulting column</a:t>
            </a:r>
          </a:p>
          <a:p>
            <a:pPr marL="0" indent="0">
              <a:buNone/>
            </a:pPr>
            <a:r>
              <a:rPr lang="en-US" dirty="0" smtClean="0"/>
              <a:t>	"""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SELECT </a:t>
            </a:r>
            <a:r>
              <a:rPr lang="en-US" dirty="0" smtClean="0"/>
              <a:t>COUNT(city) AS </a:t>
            </a:r>
            <a:r>
              <a:rPr lang="en-US" dirty="0" err="1" smtClean="0"/>
              <a:t>cityCount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FROM `</a:t>
            </a:r>
            <a:r>
              <a:rPr lang="en-US" dirty="0" err="1"/>
              <a:t>my_project_name.dataset_name.table_name</a:t>
            </a:r>
            <a:r>
              <a:rPr lang="en-US" dirty="0"/>
              <a:t>`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GROUPBY country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HAVING COUNT(city) &gt; 5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"""</a:t>
            </a:r>
          </a:p>
        </p:txBody>
      </p:sp>
    </p:spTree>
    <p:extLst>
      <p:ext uri="{BB962C8B-B14F-4D97-AF65-F5344CB8AC3E}">
        <p14:creationId xmlns:p14="http://schemas.microsoft.com/office/powerpoint/2010/main" val="426298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GROUPBY, COUNT &amp; HAVING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Note on GROUPBY: if you select a column in the SELECT statement and it is not used in the </a:t>
            </a:r>
            <a:r>
              <a:rPr lang="en-US" dirty="0" smtClean="0"/>
              <a:t>GROUPBY or in an aggregate function, </a:t>
            </a:r>
            <a:r>
              <a:rPr lang="en-US" dirty="0" smtClean="0"/>
              <a:t>it will throw an error</a:t>
            </a:r>
          </a:p>
          <a:p>
            <a:pPr marL="0" indent="0">
              <a:buNone/>
            </a:pPr>
            <a:r>
              <a:rPr lang="en-US" dirty="0" smtClean="0"/>
              <a:t>	"""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SELECT </a:t>
            </a:r>
            <a:r>
              <a:rPr lang="en-US" dirty="0" smtClean="0"/>
              <a:t>country, town, COUNT(city) AS </a:t>
            </a:r>
            <a:r>
              <a:rPr lang="en-US" dirty="0" err="1" smtClean="0"/>
              <a:t>cityCount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FROM `</a:t>
            </a:r>
            <a:r>
              <a:rPr lang="en-US" dirty="0" err="1"/>
              <a:t>my_project_name.dataset_name.table_name</a:t>
            </a:r>
            <a:r>
              <a:rPr lang="en-US" dirty="0"/>
              <a:t>`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GROUPBY country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"""</a:t>
            </a:r>
          </a:p>
          <a:p>
            <a:r>
              <a:rPr lang="en-US" dirty="0" smtClean="0"/>
              <a:t>Bad query!</a:t>
            </a:r>
          </a:p>
        </p:txBody>
      </p:sp>
    </p:spTree>
    <p:extLst>
      <p:ext uri="{BB962C8B-B14F-4D97-AF65-F5344CB8AC3E}">
        <p14:creationId xmlns:p14="http://schemas.microsoft.com/office/powerpoint/2010/main" val="2665089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ORDERBY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90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1071</TotalTime>
  <Words>553</Words>
  <Application>Microsoft Office PowerPoint</Application>
  <PresentationFormat>Widescreen</PresentationFormat>
  <Paragraphs>109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Wingdings</vt:lpstr>
      <vt:lpstr>Diamond Grid 16x9</vt:lpstr>
      <vt:lpstr>SQL &amp; BigQuery</vt:lpstr>
      <vt:lpstr>Introduction</vt:lpstr>
      <vt:lpstr>Introduction</vt:lpstr>
      <vt:lpstr>Table Schema</vt:lpstr>
      <vt:lpstr>Introduction</vt:lpstr>
      <vt:lpstr>SELECT, FROM &amp; WHERE</vt:lpstr>
      <vt:lpstr>BigQuery query</vt:lpstr>
      <vt:lpstr>BigQuery: Big dataset</vt:lpstr>
      <vt:lpstr>GROUPBY, COUNT &amp; HAVING</vt:lpstr>
      <vt:lpstr>GROUPBY, COUNT &amp; HAVING</vt:lpstr>
      <vt:lpstr>GROUPBY, COUNT &amp; HAVING</vt:lpstr>
      <vt:lpstr>GROUPBY, COUNT &amp; HAVING</vt:lpstr>
      <vt:lpstr>GROUPBY, COUNT &amp; HAVING</vt:lpstr>
      <vt:lpstr>ORDERBY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&amp; BigQuery</dc:title>
  <dc:creator>usuario</dc:creator>
  <cp:lastModifiedBy>usuario</cp:lastModifiedBy>
  <cp:revision>16</cp:revision>
  <dcterms:created xsi:type="dcterms:W3CDTF">2020-03-02T14:30:44Z</dcterms:created>
  <dcterms:modified xsi:type="dcterms:W3CDTF">2020-03-17T12:39:23Z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